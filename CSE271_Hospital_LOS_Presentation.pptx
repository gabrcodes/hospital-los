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13716000" cy="2438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5384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3.12</c:v>
                </c:pt>
                <c:pt idx="1">
                  <c:v>2.67</c:v>
                </c:pt>
                <c:pt idx="2">
                  <c:v>2.23</c:v>
                </c:pt>
                <c:pt idx="3">
                  <c:v>1.89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20-443F-8305-C2414402A7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A556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A7C24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</c:v>
                </c:pt>
                <c:pt idx="1">
                  <c:v>KNN</c:v>
                </c:pt>
                <c:pt idx="2">
                  <c:v>Linear SVM</c:v>
                </c:pt>
                <c:pt idx="3">
                  <c:v>Random Forest</c:v>
                </c:pt>
                <c:pt idx="4">
                  <c:v>Neural Network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72.3</c:v>
                </c:pt>
                <c:pt idx="1">
                  <c:v>68.5</c:v>
                </c:pt>
                <c:pt idx="2">
                  <c:v>71.8</c:v>
                </c:pt>
                <c:pt idx="3">
                  <c:v>78.599999999999994</c:v>
                </c:pt>
                <c:pt idx="4">
                  <c:v>75.2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1-426F-8881-75FAB697D8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0"/>
        </c:scaling>
        <c:delete val="0"/>
        <c:axPos val="l"/>
        <c:majorGridlines>
          <c:spPr>
            <a:ln w="12700" cap="flat">
              <a:solidFill>
                <a:srgbClr val="4A556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Accuracy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5384C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Age</c:v>
                </c:pt>
                <c:pt idx="1">
                  <c:v>Hematocrit</c:v>
                </c:pt>
                <c:pt idx="2">
                  <c:v>Glucose</c:v>
                </c:pt>
                <c:pt idx="3">
                  <c:v>Num Admissions</c:v>
                </c:pt>
                <c:pt idx="4">
                  <c:v>Blood Pressure</c:v>
                </c:pt>
                <c:pt idx="5">
                  <c:v>Heart Rate</c:v>
                </c:pt>
                <c:pt idx="6">
                  <c:v>Respiratory</c:v>
                </c:pt>
                <c:pt idx="7">
                  <c:v>Sodium</c:v>
                </c:pt>
                <c:pt idx="8">
                  <c:v>Creatinine</c:v>
                </c:pt>
                <c:pt idx="9">
                  <c:v>BMI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0.185</c:v>
                </c:pt>
                <c:pt idx="1">
                  <c:v>0.14199999999999999</c:v>
                </c:pt>
                <c:pt idx="2">
                  <c:v>0.128</c:v>
                </c:pt>
                <c:pt idx="3">
                  <c:v>9.5000000000000001E-2</c:v>
                </c:pt>
                <c:pt idx="4">
                  <c:v>8.6999999999999994E-2</c:v>
                </c:pt>
                <c:pt idx="5">
                  <c:v>7.5999999999999998E-2</c:v>
                </c:pt>
                <c:pt idx="6">
                  <c:v>6.8000000000000005E-2</c:v>
                </c:pt>
                <c:pt idx="7">
                  <c:v>6.2E-2</c:v>
                </c:pt>
                <c:pt idx="8">
                  <c:v>5.8000000000000003E-2</c:v>
                </c:pt>
                <c:pt idx="9">
                  <c:v>5.0999999999999997E-2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8-4D2D-AC0C-1553DAFA9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A5560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8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17D16E-3906-7934-E824-2D080228B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0"/>
          <a:stretch>
            <a:fillRect/>
          </a:stretch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21EB1-BE3E-8298-97CD-6755FF412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>
            <a:fillRect/>
          </a:stretch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8133D-C89D-9EC6-928A-B08A8CF72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0"/>
          <a:stretch>
            <a:fillRect/>
          </a:stretch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FD3FEB-B91C-D9E4-4F6B-4A7562080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>
            <a:fillRect/>
          </a:stretch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8345C-21C1-F0C0-DF8F-8C02C0C7F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5"/>
          <a:stretch>
            <a:fillRect/>
          </a:stretch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MODEL TRAINING &amp; 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1143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Training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Raw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11600" y="3810000"/>
            <a:ext cx="508000" cy="0"/>
          </a:xfrm>
          <a:prstGeom prst="straightConnector1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31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31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23100" y="3810000"/>
            <a:ext cx="508000" cy="0"/>
          </a:xfrm>
          <a:prstGeom prst="straightConnector1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946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946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Train/Test Split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34600" y="3810000"/>
            <a:ext cx="508000" cy="0"/>
          </a:xfrm>
          <a:prstGeom prst="straightConnector1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7061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061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246100" y="3810000"/>
            <a:ext cx="508000" cy="0"/>
          </a:xfrm>
          <a:prstGeom prst="straightConnector1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8176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176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357600" y="3810000"/>
            <a:ext cx="508000" cy="0"/>
          </a:xfrm>
          <a:prstGeom prst="straightConnector1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29100" y="3556000"/>
            <a:ext cx="2476500" cy="5715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929100" y="3556000"/>
            <a:ext cx="247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Save Best Model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963400" y="4826000"/>
            <a:ext cx="0" cy="5207000"/>
          </a:xfrm>
          <a:prstGeom prst="straightConnector1">
            <a:avLst/>
          </a:prstGeom>
          <a:noFill/>
          <a:ln w="38100">
            <a:solidFill>
              <a:srgbClr val="000000"/>
            </a:soli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4953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63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Regression 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715000"/>
            <a:ext cx="1016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MAE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Mean Absolute Error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RMSE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Root Mean Squared Error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R-squared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Coefficient of Determination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5-fold Cross-Validation for robust estimates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484100" y="4953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63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Classification Metrics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484100" y="5715000"/>
            <a:ext cx="1016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Accuracy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Overall correctness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Precision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Positive predictive value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Recall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Sensitivity / True positive rate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321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F1-Score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- Harmonic mean of Precision &amp; Recall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REGRESSION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889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Performance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302000"/>
          <a:ext cx="10414000" cy="482600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Model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MAE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RMSE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R-squared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Linear Regression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2.41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3.12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0.42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Decision Tree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1.85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2.67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0.56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Random Forest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1.52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2.23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0.68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XGBoost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1.28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1.89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0.78</a:t>
                      </a:r>
                      <a:endParaRPr lang="en-US" sz="22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12192000" y="3302000"/>
          <a:ext cx="1079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4"/>
          <p:cNvSpPr/>
          <p:nvPr/>
        </p:nvSpPr>
        <p:spPr>
          <a:xfrm>
            <a:off x="1249680" y="8509000"/>
            <a:ext cx="2171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10" dirty="0">
                <a:solidFill>
                  <a:srgbClr val="F0FF92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Key Insight: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XGBoost achieved the best regression performance with the lowest RMSE (1.89 days) and highest R-squared (0.78), outperforming all other models.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CLASSIFICATION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889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Performance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302000"/>
          <a:ext cx="10414000" cy="5588001"/>
        </p:xfrm>
        <a:graphic>
          <a:graphicData uri="http://schemas.openxmlformats.org/drawingml/2006/table">
            <a:tbl>
              <a:tblPr/>
              <a:tblGrid>
                <a:gridCol w="3540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1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651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Model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Accuracy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F1-Score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Precision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467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Logistic Regression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72.3%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0.71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0.73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67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KNN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68.5%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0.67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0.69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67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Linear SVM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71.8%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0.70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0.72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467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Random Forest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78.6%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0.77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0.79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467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Neural Network (MLP)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75.2%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0.74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TT Commons Pro" pitchFamily="34" charset="0"/>
                          <a:ea typeface="TT Commons Pro" pitchFamily="34" charset="-122"/>
                          <a:cs typeface="TT Commons Pro" pitchFamily="34" charset="-120"/>
                        </a:rPr>
                        <a:t>0.75</a:t>
                      </a:r>
                      <a:endParaRPr lang="en-US" sz="2000" dirty="0">
                        <a:latin typeface="TT Commons Pro" charset="0"/>
                        <a:ea typeface="TT Commons Pro" charset="0"/>
                        <a:cs typeface="TT Commons Pro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12192000" y="3302000"/>
          <a:ext cx="1079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1249680" y="9144000"/>
            <a:ext cx="2171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10" dirty="0">
                <a:solidFill>
                  <a:srgbClr val="F0FF92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Key Insight:</a:t>
            </a: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Random Forest Classifier achieved the highest accuracy (78.6%) and F1-score (0.77). Ensemble methods consistently outperformed single classifiers.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1143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Top Predictors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249680" y="3302000"/>
          <a:ext cx="127000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4605000" y="342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10" dirty="0">
                <a:solidFill>
                  <a:srgbClr val="F0FF92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Clinical Insights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05000" y="4191000"/>
            <a:ext cx="889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Age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is the strongest predictor - older patients require longer recovery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Lab results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(hematocrit, glucose) reflect overall health status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Admission history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indicates chronic conditions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Vitals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(BP, heart rate) show acute condition severity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800" dirty="0">
                <a:solidFill>
                  <a:srgbClr val="F0FF92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Feature importance aligns with clinical knowledge, validating model reliability.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1143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Interactive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9680" y="3429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98600" y="3619500"/>
            <a:ext cx="2794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98600" y="36195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Single Prediction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" y="4318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Input patient clinical features through an interactive form and get instant LOS prediction with risk classification.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88680" y="3429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</a:pPr>
            <a:endParaRPr lang="en-US" sz="1600" dirty="0">
              <a:solidFill>
                <a:srgbClr val="D7F3F7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37600" y="3619500"/>
            <a:ext cx="2540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37600" y="3619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Batch Upload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7600" y="4318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Upload a CSV file with multiple patient records to process bulk predictions and export results.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727680" y="3429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976600" y="3619500"/>
            <a:ext cx="2794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976600" y="36195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Metrics Viewer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76600" y="4318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View comprehensive model performance metrics including confusion matrices, ROC curves, and comparison tables.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9680" y="6731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98600" y="6921500"/>
            <a:ext cx="3302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98600" y="69215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Feature Importance Viz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" y="7620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Interactive bar charts showing which clinical features most influence length-of-stay predictions.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88680" y="6731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37600" y="6921500"/>
            <a:ext cx="2540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37600" y="6921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EDA Explorer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7600" y="7620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Browse exploratory data analysis visualizations including distributions, correlations, and category breakdowns.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727680" y="6731000"/>
            <a:ext cx="6858000" cy="2921000"/>
          </a:xfrm>
          <a:prstGeom prst="roundRect">
            <a:avLst>
              <a:gd name="adj" fmla="val 8000"/>
            </a:avLst>
          </a:prstGeom>
          <a:solidFill>
            <a:srgbClr val="3A4550"/>
          </a:solidFill>
          <a:ln w="12700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5976600" y="6921500"/>
            <a:ext cx="2794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976600" y="69215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Dynamic Loading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976600" y="7620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Dashboard loads saved models and metrics dynamically - no hardcoded values. Re-train models, refresh dashboard.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FEDB1F-3374-2C5D-6C4E-8B2FD284BF93}"/>
              </a:ext>
            </a:extLst>
          </p:cNvPr>
          <p:cNvSpPr txBox="1"/>
          <p:nvPr/>
        </p:nvSpPr>
        <p:spPr>
          <a:xfrm>
            <a:off x="13470142" y="3685523"/>
            <a:ext cx="1587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7F3F7"/>
                </a:solidFill>
                <a:latin typeface="TT Commons Pro Bold" pitchFamily="34" charset="0"/>
                <a:ea typeface="TT Commons Pro Bold" pitchFamily="34" charset="-122"/>
              </a:rPr>
              <a:t>FUTURE WORK</a:t>
            </a:r>
            <a:endParaRPr lang="en-US" dirty="0">
              <a:solidFill>
                <a:srgbClr val="D7F3F7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7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758" y="516382"/>
            <a:ext cx="23176611" cy="10177653"/>
          </a:xfrm>
          <a:prstGeom prst="roundRect">
            <a:avLst>
              <a:gd name="adj" fmla="val 2650"/>
            </a:avLst>
          </a:prstGeom>
          <a:solidFill>
            <a:srgbClr val="2E3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529" y="281940"/>
            <a:ext cx="23284942" cy="104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1071626"/>
            <a:ext cx="10420604" cy="624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10" dirty="0">
                <a:solidFill>
                  <a:srgbClr val="FFFFFF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968500"/>
            <a:ext cx="8890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963400" y="3302000"/>
            <a:ext cx="0" cy="6350000"/>
          </a:xfrm>
          <a:prstGeom prst="straightConnector1">
            <a:avLst/>
          </a:prstGeom>
          <a:noFill/>
          <a:ln w="38100">
            <a:solidFill>
              <a:srgbClr val="000000"/>
            </a:solidFill>
            <a:prstDash val="sysDot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9680" y="3365500"/>
            <a:ext cx="3556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9680" y="33655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9680" y="4064000"/>
            <a:ext cx="10160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Built and compared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9 ML models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for LOS prediction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XGBoost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achieved best regression performance (RMSE: 1.89 days)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Random Forest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topped classification (Accuracy: 78.6%)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Deployed interactive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Streamlit dashboard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for real-time predictions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Feature importance aligns with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clinical knowledge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84100" y="3365500"/>
            <a:ext cx="2794000" cy="50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FF92"/>
              </a:gs>
              <a:gs pos="100000">
                <a:srgbClr val="A7C24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484100" y="33655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43434"/>
                </a:soli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84100" y="4064000"/>
            <a:ext cx="1016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Deep learning: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LSTM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and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Transformer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architectures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Real-time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EHR integration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from hospital systems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Multi-hospital</a:t>
            </a: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 generalization studies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Explainable AI with </a:t>
            </a: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SHAP values</a:t>
            </a:r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</a:rPr>
              <a:t>-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84100" y="812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gradFill flip="none" rotWithShape="1">
                  <a:gsLst>
                    <a:gs pos="0">
                      <a:srgbClr val="D7F3F7"/>
                    </a:gs>
                    <a:gs pos="100000">
                      <a:srgbClr val="5384C8"/>
                    </a:gs>
                  </a:gsLst>
                  <a:lin ang="0" scaled="1"/>
                </a:gradFill>
                <a:latin typeface="TT Commons Pro Bold" pitchFamily="34" charset="0"/>
                <a:ea typeface="TT Commons Pro Bold" pitchFamily="34" charset="-122"/>
                <a:cs typeface="TT Commons Pro Bold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84100" y="9271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10" dirty="0">
                <a:solidFill>
                  <a:srgbClr val="FFFFFF"/>
                </a:solidFill>
                <a:latin typeface="TT Commons Pro" pitchFamily="34" charset="0"/>
                <a:ea typeface="TT Commons Pro" pitchFamily="34" charset="-122"/>
                <a:cs typeface="TT Commons Pro" pitchFamily="34" charset="-120"/>
              </a:rPr>
              <a:t>Questions &amp; Answers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444</Words>
  <Application>Microsoft Office PowerPoint</Application>
  <PresentationFormat>Custom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TT Commons Pro</vt:lpstr>
      <vt:lpstr>TT Commons Pro Bold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Yousef Alaa Elsayed Ibrahim Azab</cp:lastModifiedBy>
  <cp:revision>3</cp:revision>
  <dcterms:created xsi:type="dcterms:W3CDTF">2026-05-09T19:12:34Z</dcterms:created>
  <dcterms:modified xsi:type="dcterms:W3CDTF">2026-05-09T20:49:02Z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{"Label":"Untitled","ContentProducer":"001191110108MACG2KBH8F10000","ProduceID":"19e0e278-e032-8520-8000-00005f377fff","ReservedCode1":"","ContentPropagator":"001191110108MACG2KBH8F20000","PropagateID":"19e0e278-e032-8520-8000-00005f377fff","ReservedCode2":""}</vt:lpwstr>
  </property>
</Properties>
</file>